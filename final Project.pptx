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Nunito"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64" y="4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e986b947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e986b947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986b9477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e986b9477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986b9477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e986b9477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986b9477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986b9477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986b9477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986b9477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986b94770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e986b9477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986b9477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e986b9477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986b9477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e986b9477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e986b9477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e986b9477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e986b94770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e986b94770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e986b94770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e986b94770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3" name="Picture 2">
            <a:extLst>
              <a:ext uri="{FF2B5EF4-FFF2-40B4-BE49-F238E27FC236}">
                <a16:creationId xmlns:a16="http://schemas.microsoft.com/office/drawing/2014/main" id="{416E3A31-55B2-C5CE-DEA6-9807A02F2E7B}"/>
              </a:ext>
            </a:extLst>
          </p:cNvPr>
          <p:cNvPicPr>
            <a:picLocks noChangeAspect="1"/>
          </p:cNvPicPr>
          <p:nvPr/>
        </p:nvPicPr>
        <p:blipFill>
          <a:blip r:embed="rId3"/>
          <a:stretch>
            <a:fillRect/>
          </a:stretch>
        </p:blipFill>
        <p:spPr>
          <a:xfrm>
            <a:off x="0" y="0"/>
            <a:ext cx="9144000" cy="5143499"/>
          </a:xfrm>
          <a:prstGeom prst="rect">
            <a:avLst/>
          </a:prstGeom>
        </p:spPr>
      </p:pic>
      <p:sp>
        <p:nvSpPr>
          <p:cNvPr id="128" name="Google Shape;128;p13"/>
          <p:cNvSpPr txBox="1">
            <a:spLocks noGrp="1"/>
          </p:cNvSpPr>
          <p:nvPr>
            <p:ph type="ctrTitle" idx="4294967295"/>
          </p:nvPr>
        </p:nvSpPr>
        <p:spPr>
          <a:xfrm>
            <a:off x="311150" y="192882"/>
            <a:ext cx="8521700" cy="122396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000" b="1" dirty="0">
                <a:solidFill>
                  <a:schemeClr val="tx1"/>
                </a:solidFill>
                <a:latin typeface="+mn-lt"/>
              </a:rPr>
              <a:t>WILL CRYSTAL PALACE F.C win the 2025/26 UEFA Conference League Final? A predictive analysis project using team performance data</a:t>
            </a:r>
            <a:endParaRPr sz="2000" b="1" dirty="0">
              <a:solidFill>
                <a:schemeClr val="tx1"/>
              </a:solidFill>
              <a:latin typeface="+mn-lt"/>
            </a:endParaRPr>
          </a:p>
        </p:txBody>
      </p:sp>
      <p:sp>
        <p:nvSpPr>
          <p:cNvPr id="129" name="Google Shape;129;p13"/>
          <p:cNvSpPr txBox="1">
            <a:spLocks noGrp="1"/>
          </p:cNvSpPr>
          <p:nvPr>
            <p:ph type="subTitle" idx="4294967295"/>
          </p:nvPr>
        </p:nvSpPr>
        <p:spPr>
          <a:xfrm>
            <a:off x="0" y="3748086"/>
            <a:ext cx="8521700" cy="1223963"/>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 sz="1800" b="1" dirty="0">
                <a:solidFill>
                  <a:schemeClr val="tx1"/>
                </a:solidFill>
                <a:latin typeface="+mj-lt"/>
              </a:rPr>
              <a:t>Multi-League analysis</a:t>
            </a:r>
            <a:endParaRPr sz="1800" b="1" dirty="0">
              <a:solidFill>
                <a:schemeClr val="tx1"/>
              </a:solidFill>
              <a:latin typeface="+mj-lt"/>
            </a:endParaRPr>
          </a:p>
          <a:p>
            <a:pPr marL="0" lvl="0" indent="0" algn="ctr" rtl="0">
              <a:spcBef>
                <a:spcPts val="0"/>
              </a:spcBef>
              <a:spcAft>
                <a:spcPts val="0"/>
              </a:spcAft>
              <a:buNone/>
            </a:pPr>
            <a:r>
              <a:rPr lang="en" sz="1800" b="1" dirty="0">
                <a:solidFill>
                  <a:schemeClr val="tx1"/>
                </a:solidFill>
                <a:latin typeface="+mj-lt"/>
              </a:rPr>
              <a:t>By</a:t>
            </a:r>
            <a:endParaRPr sz="1800" b="1" dirty="0">
              <a:solidFill>
                <a:schemeClr val="tx1"/>
              </a:solidFill>
              <a:latin typeface="+mj-lt"/>
            </a:endParaRPr>
          </a:p>
          <a:p>
            <a:pPr marL="0" lvl="0" indent="0" algn="ctr" rtl="0">
              <a:spcBef>
                <a:spcPts val="0"/>
              </a:spcBef>
              <a:spcAft>
                <a:spcPts val="0"/>
              </a:spcAft>
              <a:buNone/>
            </a:pPr>
            <a:endParaRPr sz="1800" b="1" dirty="0">
              <a:solidFill>
                <a:schemeClr val="tx1"/>
              </a:solidFill>
              <a:latin typeface="+mj-lt"/>
            </a:endParaRPr>
          </a:p>
          <a:p>
            <a:pPr marL="0" lvl="0" indent="0" algn="ctr" rtl="0">
              <a:spcBef>
                <a:spcPts val="0"/>
              </a:spcBef>
              <a:spcAft>
                <a:spcPts val="0"/>
              </a:spcAft>
              <a:buNone/>
            </a:pPr>
            <a:r>
              <a:rPr lang="en" sz="1800" b="1" dirty="0">
                <a:solidFill>
                  <a:schemeClr val="tx1"/>
                </a:solidFill>
                <a:latin typeface="+mj-lt"/>
              </a:rPr>
              <a:t>Iman Matongo</a:t>
            </a:r>
            <a:endParaRPr sz="1800" b="1" dirty="0">
              <a:solidFill>
                <a:schemeClr val="tx1"/>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Problem overview</a:t>
            </a:r>
            <a:endParaRPr/>
          </a:p>
        </p:txBody>
      </p:sp>
      <p:sp>
        <p:nvSpPr>
          <p:cNvPr id="135" name="Google Shape;135;p14"/>
          <p:cNvSpPr txBox="1">
            <a:spLocks noGrp="1"/>
          </p:cNvSpPr>
          <p:nvPr>
            <p:ph type="body" idx="1"/>
          </p:nvPr>
        </p:nvSpPr>
        <p:spPr>
          <a:xfrm>
            <a:off x="175851" y="1397000"/>
            <a:ext cx="4910500" cy="337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t>Problem: </a:t>
            </a:r>
            <a:r>
              <a:rPr lang="en" dirty="0"/>
              <a:t>What is the realistic probability of Crystal Palace to Win the UEFA Conference league final? Accurately prediction is important to helping oliver glasner make the right tactical planning, squad rotation neccessary to maximise palace chance of winning the trophy.</a:t>
            </a:r>
            <a:endParaRPr dirty="0"/>
          </a:p>
          <a:p>
            <a:pPr marL="0" lvl="0" indent="0" algn="l" rtl="0">
              <a:spcBef>
                <a:spcPts val="1200"/>
              </a:spcBef>
              <a:spcAft>
                <a:spcPts val="0"/>
              </a:spcAft>
              <a:buNone/>
            </a:pPr>
            <a:r>
              <a:rPr lang="en" b="1" dirty="0"/>
              <a:t>Decision Maker: </a:t>
            </a:r>
            <a:r>
              <a:rPr lang="en" dirty="0"/>
              <a:t>Steve Parish(Head of football) and Oliver Glasner(Coach)</a:t>
            </a:r>
            <a:endParaRPr dirty="0"/>
          </a:p>
          <a:p>
            <a:pPr marL="0" lvl="0" indent="0" algn="l" rtl="0">
              <a:spcBef>
                <a:spcPts val="1200"/>
              </a:spcBef>
              <a:spcAft>
                <a:spcPts val="0"/>
              </a:spcAft>
              <a:buNone/>
            </a:pPr>
            <a:r>
              <a:rPr lang="en" b="1" dirty="0"/>
              <a:t>Why the problem matters</a:t>
            </a:r>
            <a:r>
              <a:rPr lang="en" dirty="0"/>
              <a:t>: Crystal Palace are in there first ever european final , having won their first 2 trophies last season with the FA cup and the Community Shield, there looking to add another trophy and continue their upwards trajectory.</a:t>
            </a:r>
            <a:endParaRPr dirty="0"/>
          </a:p>
          <a:p>
            <a:pPr marL="0" lvl="0" indent="0" algn="l" rtl="0">
              <a:spcBef>
                <a:spcPts val="1200"/>
              </a:spcBef>
              <a:spcAft>
                <a:spcPts val="1200"/>
              </a:spcAft>
              <a:buNone/>
            </a:pPr>
            <a:endParaRPr dirty="0"/>
          </a:p>
        </p:txBody>
      </p:sp>
      <p:pic>
        <p:nvPicPr>
          <p:cNvPr id="4" name="Picture 3">
            <a:extLst>
              <a:ext uri="{FF2B5EF4-FFF2-40B4-BE49-F238E27FC236}">
                <a16:creationId xmlns:a16="http://schemas.microsoft.com/office/drawing/2014/main" id="{03341BC8-7BE2-D504-16B0-D7D08F43E639}"/>
              </a:ext>
            </a:extLst>
          </p:cNvPr>
          <p:cNvPicPr>
            <a:picLocks noChangeAspect="1"/>
          </p:cNvPicPr>
          <p:nvPr/>
        </p:nvPicPr>
        <p:blipFill>
          <a:blip r:embed="rId3"/>
          <a:stretch>
            <a:fillRect/>
          </a:stretch>
        </p:blipFill>
        <p:spPr>
          <a:xfrm>
            <a:off x="5389790" y="1468211"/>
            <a:ext cx="2935060" cy="25336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Description</a:t>
            </a:r>
            <a:endParaRPr/>
          </a:p>
        </p:txBody>
      </p:sp>
      <p:sp>
        <p:nvSpPr>
          <p:cNvPr id="141" name="Google Shape;141;p15"/>
          <p:cNvSpPr txBox="1">
            <a:spLocks noGrp="1"/>
          </p:cNvSpPr>
          <p:nvPr>
            <p:ph type="body" idx="1"/>
          </p:nvPr>
        </p:nvSpPr>
        <p:spPr>
          <a:xfrm>
            <a:off x="337457" y="1590675"/>
            <a:ext cx="54102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t>Limit: </a:t>
            </a:r>
            <a:r>
              <a:rPr lang="en" dirty="0"/>
              <a:t>Most football data is betting data and often has excessive amount of data that needs to be cleaned or is irrelevant to our analysis.</a:t>
            </a:r>
            <a:endParaRPr dirty="0"/>
          </a:p>
          <a:p>
            <a:pPr marL="0" lvl="0" indent="0" algn="l" rtl="0">
              <a:spcBef>
                <a:spcPts val="1200"/>
              </a:spcBef>
              <a:spcAft>
                <a:spcPts val="0"/>
              </a:spcAft>
              <a:buNone/>
            </a:pPr>
            <a:r>
              <a:rPr lang="en" b="1" dirty="0"/>
              <a:t>Data Sources : </a:t>
            </a:r>
            <a:r>
              <a:rPr lang="en" dirty="0"/>
              <a:t>Webscraping through Excel Power Query from Soccerway, Flashscore and LiveSport for La liga, EPL and UEFA conference league seasons(2024-2025 and 2025-2026)</a:t>
            </a:r>
            <a:endParaRPr dirty="0"/>
          </a:p>
          <a:p>
            <a:pPr marL="0" lvl="0" indent="0" algn="l" rtl="0">
              <a:spcBef>
                <a:spcPts val="1200"/>
              </a:spcBef>
              <a:spcAft>
                <a:spcPts val="0"/>
              </a:spcAft>
              <a:buNone/>
            </a:pPr>
            <a:r>
              <a:rPr lang="en" b="1" dirty="0"/>
              <a:t>Datasets Used: </a:t>
            </a:r>
            <a:r>
              <a:rPr lang="en" dirty="0"/>
              <a:t>6 CSV files compiled into one dataframe through Python.(EPL) 24-25 and 25-26, LA Liga 24-25 and 25-26 and Uefa Conference League 24-25 and 25-26</a:t>
            </a:r>
            <a:endParaRPr dirty="0"/>
          </a:p>
          <a:p>
            <a:pPr marL="0" lvl="0" indent="0" algn="l" rtl="0">
              <a:spcBef>
                <a:spcPts val="1200"/>
              </a:spcBef>
              <a:spcAft>
                <a:spcPts val="1200"/>
              </a:spcAft>
              <a:buNone/>
            </a:pPr>
            <a:endParaRPr dirty="0"/>
          </a:p>
        </p:txBody>
      </p:sp>
      <p:sp>
        <p:nvSpPr>
          <p:cNvPr id="2" name="AutoShape 2" descr="Image result for data">
            <a:extLst>
              <a:ext uri="{FF2B5EF4-FFF2-40B4-BE49-F238E27FC236}">
                <a16:creationId xmlns:a16="http://schemas.microsoft.com/office/drawing/2014/main" id="{CCFAC720-013F-7B76-013B-54F4A46DC34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4" name="Picture 3">
            <a:extLst>
              <a:ext uri="{FF2B5EF4-FFF2-40B4-BE49-F238E27FC236}">
                <a16:creationId xmlns:a16="http://schemas.microsoft.com/office/drawing/2014/main" id="{2D6F9222-C53F-39B3-9392-770A09C8DBB7}"/>
              </a:ext>
            </a:extLst>
          </p:cNvPr>
          <p:cNvPicPr>
            <a:picLocks noChangeAspect="1"/>
          </p:cNvPicPr>
          <p:nvPr/>
        </p:nvPicPr>
        <p:blipFill>
          <a:blip r:embed="rId3"/>
          <a:stretch>
            <a:fillRect/>
          </a:stretch>
        </p:blipFill>
        <p:spPr>
          <a:xfrm>
            <a:off x="5747657" y="1157287"/>
            <a:ext cx="2914650" cy="25241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166007" y="167964"/>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Data Clenaing and Transformation</a:t>
            </a:r>
            <a:endParaRPr dirty="0"/>
          </a:p>
        </p:txBody>
      </p:sp>
      <p:sp>
        <p:nvSpPr>
          <p:cNvPr id="147" name="Google Shape;147;p16"/>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8" name="Google Shape;148;p16"/>
          <p:cNvPicPr preferRelativeResize="0"/>
          <p:nvPr/>
        </p:nvPicPr>
        <p:blipFill>
          <a:blip r:embed="rId3">
            <a:alphaModFix/>
          </a:blip>
          <a:stretch>
            <a:fillRect/>
          </a:stretch>
        </p:blipFill>
        <p:spPr>
          <a:xfrm>
            <a:off x="277586" y="704775"/>
            <a:ext cx="8539843" cy="4039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7"/>
          <p:cNvSpPr txBox="1">
            <a:spLocks noGrp="1"/>
          </p:cNvSpPr>
          <p:nvPr>
            <p:ph type="title"/>
          </p:nvPr>
        </p:nvSpPr>
        <p:spPr>
          <a:xfrm>
            <a:off x="231321" y="28477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Python:data transformation</a:t>
            </a:r>
            <a:endParaRPr dirty="0"/>
          </a:p>
        </p:txBody>
      </p:sp>
      <p:sp>
        <p:nvSpPr>
          <p:cNvPr id="154" name="Google Shape;154;p17"/>
          <p:cNvSpPr txBox="1">
            <a:spLocks noGrp="1"/>
          </p:cNvSpPr>
          <p:nvPr>
            <p:ph type="body" idx="1"/>
          </p:nvPr>
        </p:nvSpPr>
        <p:spPr>
          <a:xfrm>
            <a:off x="368850" y="1621263"/>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Missing values where dropped via .dropna() and string spacing.</a:t>
            </a:r>
            <a:endParaRPr dirty="0"/>
          </a:p>
        </p:txBody>
      </p:sp>
      <p:pic>
        <p:nvPicPr>
          <p:cNvPr id="155" name="Google Shape;155;p17"/>
          <p:cNvPicPr preferRelativeResize="0"/>
          <p:nvPr/>
        </p:nvPicPr>
        <p:blipFill>
          <a:blip r:embed="rId3">
            <a:alphaModFix/>
          </a:blip>
          <a:stretch>
            <a:fillRect/>
          </a:stretch>
        </p:blipFill>
        <p:spPr>
          <a:xfrm>
            <a:off x="254550" y="912662"/>
            <a:ext cx="6750407" cy="3318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721179" y="363907"/>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EXPLORATORY DATA ANALYSIS</a:t>
            </a:r>
            <a:endParaRPr dirty="0"/>
          </a:p>
        </p:txBody>
      </p:sp>
      <p:sp>
        <p:nvSpPr>
          <p:cNvPr id="161" name="Google Shape;161;p18"/>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2" name="Google Shape;162;p18"/>
          <p:cNvPicPr preferRelativeResize="0"/>
          <p:nvPr/>
        </p:nvPicPr>
        <p:blipFill>
          <a:blip r:embed="rId3">
            <a:alphaModFix/>
          </a:blip>
          <a:stretch>
            <a:fillRect/>
          </a:stretch>
        </p:blipFill>
        <p:spPr>
          <a:xfrm>
            <a:off x="311700" y="1094725"/>
            <a:ext cx="8520602" cy="353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19"/>
          <p:cNvPicPr preferRelativeResize="0"/>
          <p:nvPr/>
        </p:nvPicPr>
        <p:blipFill>
          <a:blip r:embed="rId3">
            <a:alphaModFix/>
          </a:blip>
          <a:stretch>
            <a:fillRect/>
          </a:stretch>
        </p:blipFill>
        <p:spPr>
          <a:xfrm>
            <a:off x="311700" y="308025"/>
            <a:ext cx="8132951" cy="4290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txBox="1">
            <a:spLocks noGrp="1"/>
          </p:cNvSpPr>
          <p:nvPr>
            <p:ph type="title"/>
          </p:nvPr>
        </p:nvSpPr>
        <p:spPr>
          <a:xfrm>
            <a:off x="215050" y="192457"/>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Machine Learning Method</a:t>
            </a:r>
            <a:endParaRPr dirty="0"/>
          </a:p>
        </p:txBody>
      </p:sp>
      <p:pic>
        <p:nvPicPr>
          <p:cNvPr id="173" name="Google Shape;173;p20"/>
          <p:cNvPicPr preferRelativeResize="0"/>
          <p:nvPr/>
        </p:nvPicPr>
        <p:blipFill>
          <a:blip r:embed="rId3">
            <a:alphaModFix/>
          </a:blip>
          <a:stretch>
            <a:fillRect/>
          </a:stretch>
        </p:blipFill>
        <p:spPr>
          <a:xfrm>
            <a:off x="547006" y="816430"/>
            <a:ext cx="7715251" cy="38310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1"/>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WHY LOGISTIC REGRESSION</a:t>
            </a:r>
            <a:endParaRPr/>
          </a:p>
        </p:txBody>
      </p:sp>
      <p:sp>
        <p:nvSpPr>
          <p:cNvPr id="179" name="Google Shape;179;p21"/>
          <p:cNvSpPr txBox="1">
            <a:spLocks noGrp="1"/>
          </p:cNvSpPr>
          <p:nvPr>
            <p:ph type="body" idx="1"/>
          </p:nvPr>
        </p:nvSpPr>
        <p:spPr>
          <a:xfrm>
            <a:off x="419100" y="1590674"/>
            <a:ext cx="5336721" cy="324258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900" dirty="0"/>
              <a:t>The target variables of Home win vs Away win or Draw where better suited to this model as it is more effective for calculating clean probability percentages.</a:t>
            </a:r>
            <a:endParaRPr sz="900" dirty="0"/>
          </a:p>
          <a:p>
            <a:pPr marL="0" lvl="0" indent="0" algn="l" rtl="0">
              <a:spcBef>
                <a:spcPts val="1200"/>
              </a:spcBef>
              <a:spcAft>
                <a:spcPts val="0"/>
              </a:spcAft>
              <a:buNone/>
            </a:pPr>
            <a:r>
              <a:rPr lang="en" sz="900" b="1" dirty="0"/>
              <a:t>Model Validation: </a:t>
            </a:r>
            <a:r>
              <a:rPr lang="en" sz="900" dirty="0"/>
              <a:t>Split the data into 60% training, 15% validation and 25% testing, to ensure that the model actually works.</a:t>
            </a:r>
            <a:endParaRPr sz="900" dirty="0"/>
          </a:p>
          <a:p>
            <a:pPr marL="0" lvl="0" indent="0" algn="l" rtl="0">
              <a:spcBef>
                <a:spcPts val="1200"/>
              </a:spcBef>
              <a:spcAft>
                <a:spcPts val="0"/>
              </a:spcAft>
              <a:buNone/>
            </a:pPr>
            <a:r>
              <a:rPr lang="en" sz="900" b="1" dirty="0"/>
              <a:t>Results:</a:t>
            </a:r>
            <a:endParaRPr sz="900" b="1" dirty="0"/>
          </a:p>
          <a:p>
            <a:pPr marL="171450" indent="-171450">
              <a:spcBef>
                <a:spcPts val="1200"/>
              </a:spcBef>
            </a:pPr>
            <a:r>
              <a:rPr lang="en" sz="900" dirty="0"/>
              <a:t>Logistic regression accuracy: 68.8%</a:t>
            </a:r>
            <a:endParaRPr sz="900" dirty="0"/>
          </a:p>
          <a:p>
            <a:pPr marL="171450" indent="-171450">
              <a:spcBef>
                <a:spcPts val="1200"/>
              </a:spcBef>
            </a:pPr>
            <a:r>
              <a:rPr lang="en" sz="900" dirty="0"/>
              <a:t>Decision Tree Accuracy: 59.9%</a:t>
            </a:r>
            <a:endParaRPr sz="900" dirty="0"/>
          </a:p>
          <a:p>
            <a:pPr marL="171450" indent="-171450">
              <a:spcBef>
                <a:spcPts val="1200"/>
              </a:spcBef>
            </a:pPr>
            <a:r>
              <a:rPr lang="en" sz="900" dirty="0"/>
              <a:t>Random forest accuracy: 59.1%</a:t>
            </a:r>
            <a:endParaRPr sz="900" dirty="0"/>
          </a:p>
          <a:p>
            <a:pPr marL="171450" indent="-171450">
              <a:spcBef>
                <a:spcPts val="1200"/>
              </a:spcBef>
            </a:pPr>
            <a:r>
              <a:rPr lang="en" sz="900" dirty="0"/>
              <a:t>Gradient Boosting: 57.3%</a:t>
            </a:r>
            <a:endParaRPr sz="900" dirty="0"/>
          </a:p>
          <a:p>
            <a:pPr marL="0" lvl="0" indent="0" algn="l" rtl="0">
              <a:spcBef>
                <a:spcPts val="1200"/>
              </a:spcBef>
              <a:spcAft>
                <a:spcPts val="0"/>
              </a:spcAft>
              <a:buNone/>
            </a:pPr>
            <a:r>
              <a:rPr lang="en" sz="900" dirty="0"/>
              <a:t>Logistic regression performed best, and best on the results seems to have avoided all overfitting issues  that may have disturbed the tree models.</a:t>
            </a:r>
            <a:endParaRPr sz="900" dirty="0"/>
          </a:p>
          <a:p>
            <a:pPr marL="0" lvl="0" indent="0" algn="l" rtl="0">
              <a:spcBef>
                <a:spcPts val="1200"/>
              </a:spcBef>
              <a:spcAft>
                <a:spcPts val="1200"/>
              </a:spcAft>
              <a:buNone/>
            </a:pPr>
            <a:endParaRPr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2"/>
          <p:cNvSpPr txBox="1">
            <a:spLocks noGrp="1"/>
          </p:cNvSpPr>
          <p:nvPr>
            <p:ph type="title"/>
          </p:nvPr>
        </p:nvSpPr>
        <p:spPr>
          <a:xfrm>
            <a:off x="386442" y="21552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FInal Prediction results</a:t>
            </a:r>
            <a:endParaRPr dirty="0"/>
          </a:p>
        </p:txBody>
      </p:sp>
      <p:pic>
        <p:nvPicPr>
          <p:cNvPr id="185" name="Google Shape;185;p22"/>
          <p:cNvPicPr preferRelativeResize="0"/>
          <p:nvPr/>
        </p:nvPicPr>
        <p:blipFill>
          <a:blip r:embed="rId3">
            <a:alphaModFix/>
          </a:blip>
          <a:stretch>
            <a:fillRect/>
          </a:stretch>
        </p:blipFill>
        <p:spPr>
          <a:xfrm>
            <a:off x="386442" y="794567"/>
            <a:ext cx="8047265" cy="337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3"/>
          <p:cNvSpPr txBox="1">
            <a:spLocks noGrp="1"/>
          </p:cNvSpPr>
          <p:nvPr>
            <p:ph type="title"/>
          </p:nvPr>
        </p:nvSpPr>
        <p:spPr>
          <a:xfrm>
            <a:off x="353785" y="256361"/>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Recommendation</a:t>
            </a:r>
            <a:endParaRPr dirty="0"/>
          </a:p>
        </p:txBody>
      </p:sp>
      <p:sp>
        <p:nvSpPr>
          <p:cNvPr id="191" name="Google Shape;191;p23"/>
          <p:cNvSpPr txBox="1">
            <a:spLocks noGrp="1"/>
          </p:cNvSpPr>
          <p:nvPr>
            <p:ph type="body" idx="1"/>
          </p:nvPr>
        </p:nvSpPr>
        <p:spPr>
          <a:xfrm>
            <a:off x="100694" y="733661"/>
            <a:ext cx="5589814" cy="3879160"/>
          </a:xfrm>
          <a:prstGeom prst="rect">
            <a:avLst/>
          </a:prstGeom>
        </p:spPr>
        <p:txBody>
          <a:bodyPr spcFirstLastPara="1" wrap="square" lIns="91425" tIns="91425" rIns="91425" bIns="91425" anchor="t" anchorCtr="0">
            <a:normAutofit/>
          </a:bodyPr>
          <a:lstStyle/>
          <a:p>
            <a:pPr marL="457200" lvl="0" indent="-304959" algn="l" rtl="0">
              <a:spcBef>
                <a:spcPts val="0"/>
              </a:spcBef>
              <a:spcAft>
                <a:spcPts val="0"/>
              </a:spcAft>
              <a:buSzPct val="100000"/>
              <a:buAutoNum type="arabicPeriod"/>
            </a:pPr>
            <a:r>
              <a:rPr lang="en" dirty="0"/>
              <a:t>High press, high possession football to try to disrupt Rayo Vallecanos defense</a:t>
            </a:r>
            <a:endParaRPr dirty="0"/>
          </a:p>
          <a:p>
            <a:pPr marL="457200" lvl="0" indent="-304959" algn="l" rtl="0">
              <a:spcBef>
                <a:spcPts val="0"/>
              </a:spcBef>
              <a:spcAft>
                <a:spcPts val="0"/>
              </a:spcAft>
              <a:buSzPct val="100000"/>
              <a:buAutoNum type="arabicPeriod"/>
            </a:pPr>
            <a:r>
              <a:rPr lang="en" dirty="0"/>
              <a:t>Rest players for the Final and take advantage of the underdog tag in the final.</a:t>
            </a:r>
            <a:endParaRPr dirty="0"/>
          </a:p>
          <a:p>
            <a:pPr marL="457200" lvl="0" indent="-304959" algn="l" rtl="0">
              <a:spcBef>
                <a:spcPts val="0"/>
              </a:spcBef>
              <a:spcAft>
                <a:spcPts val="0"/>
              </a:spcAft>
              <a:buSzPct val="100000"/>
              <a:buAutoNum type="arabicPeriod"/>
            </a:pPr>
            <a:r>
              <a:rPr lang="en" dirty="0"/>
              <a:t>Since our data is mostly goal data, Palace must implement a better defensive strategy to keep Rayo Vallecano at bay.</a:t>
            </a:r>
            <a:endParaRPr dirty="0"/>
          </a:p>
          <a:p>
            <a:pPr marL="457200" lvl="0" indent="0" algn="ctr" rtl="0">
              <a:spcBef>
                <a:spcPts val="1200"/>
              </a:spcBef>
              <a:spcAft>
                <a:spcPts val="0"/>
              </a:spcAft>
              <a:buNone/>
            </a:pPr>
            <a:r>
              <a:rPr lang="en" sz="1800" b="1" dirty="0"/>
              <a:t>Measure of Success:</a:t>
            </a:r>
            <a:endParaRPr sz="1800" b="1" dirty="0"/>
          </a:p>
          <a:p>
            <a:pPr marL="457200" lvl="0" indent="0" algn="l" rtl="0">
              <a:spcBef>
                <a:spcPts val="1200"/>
              </a:spcBef>
              <a:spcAft>
                <a:spcPts val="0"/>
              </a:spcAft>
              <a:buNone/>
            </a:pPr>
            <a:r>
              <a:rPr lang="en" dirty="0"/>
              <a:t>Win the trophy!</a:t>
            </a:r>
            <a:endParaRPr dirty="0"/>
          </a:p>
          <a:p>
            <a:pPr marL="457200" lvl="0" indent="0" algn="l" rtl="0">
              <a:spcBef>
                <a:spcPts val="1200"/>
              </a:spcBef>
              <a:spcAft>
                <a:spcPts val="0"/>
              </a:spcAft>
              <a:buNone/>
            </a:pPr>
            <a:r>
              <a:rPr lang="en" dirty="0"/>
              <a:t>Monitoring expected goal metrics, shot conversion rate and defensive turnovers in the games they have played so far and that Rayo vallecano have played so far.</a:t>
            </a:r>
            <a:endParaRPr dirty="0"/>
          </a:p>
          <a:p>
            <a:pPr marL="457200" lvl="0" indent="0" algn="l" rtl="0">
              <a:spcBef>
                <a:spcPts val="1200"/>
              </a:spcBef>
              <a:spcAft>
                <a:spcPts val="1200"/>
              </a:spcAft>
              <a:buNone/>
            </a:pPr>
            <a:endParaRPr dirty="0"/>
          </a:p>
        </p:txBody>
      </p:sp>
      <p:pic>
        <p:nvPicPr>
          <p:cNvPr id="4" name="Picture 3">
            <a:extLst>
              <a:ext uri="{FF2B5EF4-FFF2-40B4-BE49-F238E27FC236}">
                <a16:creationId xmlns:a16="http://schemas.microsoft.com/office/drawing/2014/main" id="{0AF06628-096B-E81C-C74C-ADEC5F8B055E}"/>
              </a:ext>
            </a:extLst>
          </p:cNvPr>
          <p:cNvPicPr>
            <a:picLocks noChangeAspect="1"/>
          </p:cNvPicPr>
          <p:nvPr/>
        </p:nvPicPr>
        <p:blipFill>
          <a:blip r:embed="rId3"/>
          <a:stretch>
            <a:fillRect/>
          </a:stretch>
        </p:blipFill>
        <p:spPr>
          <a:xfrm>
            <a:off x="5563280" y="187779"/>
            <a:ext cx="3580720" cy="4699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4"/>
          <p:cNvSpPr txBox="1">
            <a:spLocks noGrp="1"/>
          </p:cNvSpPr>
          <p:nvPr>
            <p:ph type="title"/>
          </p:nvPr>
        </p:nvSpPr>
        <p:spPr>
          <a:xfrm>
            <a:off x="198664" y="227475"/>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Limitations (DATA AND MODEL</a:t>
            </a:r>
            <a:endParaRPr dirty="0"/>
          </a:p>
        </p:txBody>
      </p:sp>
      <p:sp>
        <p:nvSpPr>
          <p:cNvPr id="197" name="Google Shape;197;p24"/>
          <p:cNvSpPr txBox="1">
            <a:spLocks noGrp="1"/>
          </p:cNvSpPr>
          <p:nvPr>
            <p:ph type="body" idx="1"/>
          </p:nvPr>
        </p:nvSpPr>
        <p:spPr>
          <a:xfrm>
            <a:off x="296636" y="704774"/>
            <a:ext cx="5606143" cy="3703939"/>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dirty="0"/>
              <a:t>Data limited to two seasons( would need atleast </a:t>
            </a:r>
            <a:r>
              <a:rPr lang="en"/>
              <a:t>5 seasons or more </a:t>
            </a:r>
            <a:r>
              <a:rPr lang="en" dirty="0"/>
              <a:t>worth of data for a better understanding of the game.</a:t>
            </a:r>
            <a:endParaRPr dirty="0"/>
          </a:p>
          <a:p>
            <a:pPr marL="457200" lvl="0" indent="-311150" algn="l" rtl="0">
              <a:spcBef>
                <a:spcPts val="0"/>
              </a:spcBef>
              <a:spcAft>
                <a:spcPts val="0"/>
              </a:spcAft>
              <a:buSzPts val="1300"/>
              <a:buChar char="-"/>
            </a:pPr>
            <a:r>
              <a:rPr lang="en" dirty="0"/>
              <a:t>Player and coach stats not included and more metrics.</a:t>
            </a:r>
            <a:endParaRPr dirty="0"/>
          </a:p>
          <a:p>
            <a:pPr marL="457200" lvl="0" indent="-311150" algn="l" rtl="0">
              <a:spcBef>
                <a:spcPts val="0"/>
              </a:spcBef>
              <a:spcAft>
                <a:spcPts val="0"/>
              </a:spcAft>
              <a:buSzPts val="1300"/>
              <a:buChar char="-"/>
            </a:pPr>
            <a:r>
              <a:rPr lang="en" dirty="0"/>
              <a:t>The data is oversimplified and makes the data seem identical when its not and might mean the model is not so accurate.</a:t>
            </a:r>
            <a:endParaRPr dirty="0"/>
          </a:p>
          <a:p>
            <a:pPr marL="0" lvl="0" indent="0" algn="l" rtl="0">
              <a:spcBef>
                <a:spcPts val="1200"/>
              </a:spcBef>
              <a:spcAft>
                <a:spcPts val="0"/>
              </a:spcAft>
              <a:buNone/>
            </a:pPr>
            <a:r>
              <a:rPr lang="en" b="1" dirty="0"/>
              <a:t>SUGGESTIONS</a:t>
            </a:r>
            <a:endParaRPr b="1" dirty="0"/>
          </a:p>
          <a:p>
            <a:pPr marL="457200" lvl="0" indent="-311150" algn="l" rtl="0">
              <a:spcBef>
                <a:spcPts val="1200"/>
              </a:spcBef>
              <a:spcAft>
                <a:spcPts val="0"/>
              </a:spcAft>
              <a:buSzPts val="1300"/>
              <a:buChar char="-"/>
            </a:pPr>
            <a:r>
              <a:rPr lang="en" dirty="0"/>
              <a:t>Incorporate Player and coaching data</a:t>
            </a:r>
            <a:endParaRPr dirty="0"/>
          </a:p>
          <a:p>
            <a:pPr marL="457200" lvl="0" indent="-311150" algn="l" rtl="0">
              <a:spcBef>
                <a:spcPts val="0"/>
              </a:spcBef>
              <a:spcAft>
                <a:spcPts val="0"/>
              </a:spcAft>
              <a:buSzPts val="1300"/>
              <a:buChar char="-"/>
            </a:pPr>
            <a:r>
              <a:rPr lang="en" dirty="0"/>
              <a:t>Incorporate more historical data with both teams performances in high pressure games like finals</a:t>
            </a:r>
            <a:endParaRPr dirty="0"/>
          </a:p>
          <a:p>
            <a:pPr marL="457200" lvl="0" indent="-311150" algn="l" rtl="0">
              <a:spcBef>
                <a:spcPts val="0"/>
              </a:spcBef>
              <a:spcAft>
                <a:spcPts val="0"/>
              </a:spcAft>
              <a:buSzPts val="1300"/>
              <a:buChar char="-"/>
            </a:pPr>
            <a:r>
              <a:rPr lang="en" dirty="0"/>
              <a:t>Update data as each team plays to get better accuracy.</a:t>
            </a:r>
            <a:endParaRPr dirty="0"/>
          </a:p>
          <a:p>
            <a:pPr marL="457200" lvl="0" indent="-311150" algn="l" rtl="0">
              <a:spcBef>
                <a:spcPts val="0"/>
              </a:spcBef>
              <a:spcAft>
                <a:spcPts val="0"/>
              </a:spcAft>
              <a:buSzPts val="1300"/>
              <a:buChar char="-"/>
            </a:pPr>
            <a:r>
              <a:rPr lang="en-US" dirty="0"/>
              <a:t>Use Team strengthens to compare power index, squad value etc. </a:t>
            </a:r>
          </a:p>
          <a:p>
            <a:pPr marL="457200" lvl="0" indent="-311150" algn="l" rtl="0">
              <a:spcBef>
                <a:spcPts val="0"/>
              </a:spcBef>
              <a:spcAft>
                <a:spcPts val="0"/>
              </a:spcAft>
              <a:buSzPts val="1300"/>
              <a:buChar char="-"/>
            </a:pPr>
            <a:r>
              <a:rPr lang="en-US" dirty="0"/>
              <a:t>Possible try using different simulation models like maybe monte carlo to see what the prediction will be each time.</a:t>
            </a:r>
            <a:endParaRPr dirty="0"/>
          </a:p>
        </p:txBody>
      </p:sp>
      <p:pic>
        <p:nvPicPr>
          <p:cNvPr id="4" name="Picture 3">
            <a:extLst>
              <a:ext uri="{FF2B5EF4-FFF2-40B4-BE49-F238E27FC236}">
                <a16:creationId xmlns:a16="http://schemas.microsoft.com/office/drawing/2014/main" id="{4302D0E1-B95F-F9BF-FD50-BBAD2E1CC7CC}"/>
              </a:ext>
            </a:extLst>
          </p:cNvPr>
          <p:cNvPicPr>
            <a:picLocks noChangeAspect="1"/>
          </p:cNvPicPr>
          <p:nvPr/>
        </p:nvPicPr>
        <p:blipFill>
          <a:blip r:embed="rId3"/>
          <a:stretch>
            <a:fillRect/>
          </a:stretch>
        </p:blipFill>
        <p:spPr>
          <a:xfrm>
            <a:off x="5902779" y="1180380"/>
            <a:ext cx="2009775" cy="2752725"/>
          </a:xfrm>
          <a:prstGeom prst="rect">
            <a:avLst/>
          </a:prstGeom>
        </p:spPr>
      </p:pic>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572</Words>
  <Application>Microsoft Office PowerPoint</Application>
  <PresentationFormat>On-screen Show (16:9)</PresentationFormat>
  <Paragraphs>45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Nunito</vt:lpstr>
      <vt:lpstr>Arial</vt:lpstr>
      <vt:lpstr>Shift</vt:lpstr>
      <vt:lpstr>WILL CRYSTAL PALACE F.C win the 2025/26 UEFA Conference League Final? A predictive analysis project using team performance data</vt:lpstr>
      <vt:lpstr>Problem overview</vt:lpstr>
      <vt:lpstr>DATA Description</vt:lpstr>
      <vt:lpstr>Data Clenaing and Transformation</vt:lpstr>
      <vt:lpstr>Python:data transformation</vt:lpstr>
      <vt:lpstr>EXPLORATORY DATA ANALYSIS</vt:lpstr>
      <vt:lpstr>PowerPoint Presentation</vt:lpstr>
      <vt:lpstr>Machine Learning Method</vt:lpstr>
      <vt:lpstr>WHY LOGISTIC REGRESSION</vt:lpstr>
      <vt:lpstr>FInal Prediction results</vt:lpstr>
      <vt:lpstr>Recommendation</vt:lpstr>
      <vt:lpstr>Limitations (DATA AND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c:creator>
  <cp:lastModifiedBy>Iman Matongo</cp:lastModifiedBy>
  <cp:revision>2</cp:revision>
  <dcterms:modified xsi:type="dcterms:W3CDTF">2026-10-04T11:48:33Z</dcterms:modified>
</cp:coreProperties>
</file>